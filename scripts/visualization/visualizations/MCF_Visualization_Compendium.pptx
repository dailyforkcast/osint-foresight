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network of 18 institutions across 5 tiers, showing 21 key relationships. Node sizes represent power level, colors represent organization type. Hierarchical layout shows command structure from central leadership to implementation entities.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view focusing on Tier 1-2 central authorities and key ministries. Shows the core coordination mechanisms between central leadership and key government agencies.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structure showing Xi Jinping at apex, chairing both Central MCF Commission and Central Military Commission. Shows dual civilian-military command structure with coordinated oversight of ministries, agencies, research institutions, and implementation entities.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Five-tier structure: (1) Central Leadership, (2) Key Ministries &amp; Commissions, (3) Key Agencies, (4) Provincial Implementation, (5) Implementation Entities. Shows how directives flow from central coordination through provincial and institutional layers to operational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 types: Commands (military chain), Directs (government oversight), Coordinates (inter-agency cooperation), Funds (research support), Controls (SOE management). Dashed lines show technology transfer and procurement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Three-stage flow: (1) Foreign acquisition from universities and companies, (2) Domestic processing through CAS, university labs, and SOEs, (3) Application in military and civilian domains. Flow values represent relative intensity of technology transfer.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Shows coordination of Belt and Road Initiative (BRI), Global Development Initiative (GDI), Global Security Initiative (GSI), and Global Civilization Initiative (GCI). Demonstrates how these initiatives flow through implementation mechanisms (infrastructure, finance, technology, security, culture) to achieve strategic objectives (economic influence, technology acquisition, security presence, soft power).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E74C3C"/>
                </a:solidFill>
              </a:defRPr>
            </a:pPr>
            <a:r>
              <a:t>China's Military-Civil Fusion (MCF)</a:t>
            </a:r>
          </a:p>
        </p:txBody>
      </p:sp>
      <p:sp>
        <p:nvSpPr>
          <p:cNvPr id="3" name="Subtitle 2"/>
          <p:cNvSpPr>
            <a:spLocks noGrp="1"/>
          </p:cNvSpPr>
          <p:nvPr>
            <p:ph type="subTitle" idx="1"/>
          </p:nvPr>
        </p:nvSpPr>
        <p:spPr/>
        <p:txBody>
          <a:bodyPr/>
          <a:lstStyle/>
          <a:p>
            <a:r>
              <a:t>Institutional Architecture and Technology Flows</a:t>
            </a:r>
          </a:p>
          <a:p>
            <a:r>
              <a:t>Visualization Compendium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286000"/>
            <a:ext cx="7315200" cy="1828800"/>
          </a:xfrm>
          <a:prstGeom prst="rect">
            <a:avLst/>
          </a:prstGeom>
          <a:noFill/>
        </p:spPr>
        <p:txBody>
          <a:bodyPr wrap="none">
            <a:spAutoFit/>
          </a:bodyPr>
          <a:lstStyle/>
          <a:p>
            <a:pPr algn="ctr">
              <a:defRPr sz="5400" b="1">
                <a:solidFill>
                  <a:srgbClr val="E74C3C"/>
                </a:solidFill>
              </a:defRPr>
            </a:pPr>
            <a:r>
              <a:t>Institutional Architecture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MCF Institutional Architecture - Complete Network</a:t>
            </a:r>
          </a:p>
        </p:txBody>
      </p:sp>
      <p:pic>
        <p:nvPicPr>
          <p:cNvPr id="4" name="Picture 3" descr="mcf_institutional_architecture.png"/>
          <p:cNvPicPr>
            <a:picLocks noChangeAspect="1"/>
          </p:cNvPicPr>
          <p:nvPr/>
        </p:nvPicPr>
        <p:blipFill>
          <a:blip r:embed="rId2"/>
          <a:stretch>
            <a:fillRect/>
          </a:stretch>
        </p:blipFill>
        <p:spPr>
          <a:xfrm>
            <a:off x="457200" y="1188720"/>
            <a:ext cx="8229600" cy="657540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MCF Core Coordination Structure</a:t>
            </a:r>
          </a:p>
        </p:txBody>
      </p:sp>
      <p:pic>
        <p:nvPicPr>
          <p:cNvPr id="4" name="Picture 3" descr="mcf_simplified_architecture.png"/>
          <p:cNvPicPr>
            <a:picLocks noChangeAspect="1"/>
          </p:cNvPicPr>
          <p:nvPr/>
        </p:nvPicPr>
        <p:blipFill>
          <a:blip r:embed="rId2"/>
          <a:stretch>
            <a:fillRect/>
          </a:stretch>
        </p:blipFill>
        <p:spPr>
          <a:xfrm>
            <a:off x="457200" y="1188720"/>
            <a:ext cx="8229600" cy="614890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MCF Governance Hierarchy</a:t>
            </a:r>
          </a:p>
        </p:txBody>
      </p:sp>
      <p:pic>
        <p:nvPicPr>
          <p:cNvPr id="4" name="Picture 3" descr="mcf_governance_hierarchy.png"/>
          <p:cNvPicPr>
            <a:picLocks noChangeAspect="1"/>
          </p:cNvPicPr>
          <p:nvPr/>
        </p:nvPicPr>
        <p:blipFill>
          <a:blip r:embed="rId2"/>
          <a:stretch>
            <a:fillRect/>
          </a:stretch>
        </p:blipFill>
        <p:spPr>
          <a:xfrm>
            <a:off x="457200" y="1188720"/>
            <a:ext cx="8229600" cy="669401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MCF Institutional Layers (Tier 1-5)</a:t>
            </a:r>
          </a:p>
        </p:txBody>
      </p:sp>
      <p:pic>
        <p:nvPicPr>
          <p:cNvPr id="4" name="Picture 3" descr="mcf_institutional_layers.png"/>
          <p:cNvPicPr>
            <a:picLocks noChangeAspect="1"/>
          </p:cNvPicPr>
          <p:nvPr/>
        </p:nvPicPr>
        <p:blipFill>
          <a:blip r:embed="rId2"/>
          <a:stretch>
            <a:fillRect/>
          </a:stretch>
        </p:blipFill>
        <p:spPr>
          <a:xfrm>
            <a:off x="457200" y="1188720"/>
            <a:ext cx="8229600" cy="307219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MCF Command and Control Flows</a:t>
            </a:r>
          </a:p>
        </p:txBody>
      </p:sp>
      <p:pic>
        <p:nvPicPr>
          <p:cNvPr id="4" name="Picture 3" descr="mcf_command_flow.png"/>
          <p:cNvPicPr>
            <a:picLocks noChangeAspect="1"/>
          </p:cNvPicPr>
          <p:nvPr/>
        </p:nvPicPr>
        <p:blipFill>
          <a:blip r:embed="rId2"/>
          <a:stretch>
            <a:fillRect/>
          </a:stretch>
        </p:blipFill>
        <p:spPr>
          <a:xfrm>
            <a:off x="457200" y="1188720"/>
            <a:ext cx="8229600" cy="310657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286000"/>
            <a:ext cx="7315200" cy="1828800"/>
          </a:xfrm>
          <a:prstGeom prst="rect">
            <a:avLst/>
          </a:prstGeom>
          <a:noFill/>
        </p:spPr>
        <p:txBody>
          <a:bodyPr wrap="none">
            <a:spAutoFit/>
          </a:bodyPr>
          <a:lstStyle/>
          <a:p>
            <a:pPr algn="ctr">
              <a:defRPr sz="5400" b="1">
                <a:solidFill>
                  <a:srgbClr val="E74C3C"/>
                </a:solidFill>
              </a:defRPr>
            </a:pPr>
            <a:r>
              <a:t>Technology Flows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Technology Flow: Foreign Acquisition → Application</a:t>
            </a:r>
          </a:p>
        </p:txBody>
      </p:sp>
      <p:pic>
        <p:nvPicPr>
          <p:cNvPr id="4" name="Picture 3" descr="mcf_technology_flow.png"/>
          <p:cNvPicPr>
            <a:picLocks noChangeAspect="1"/>
          </p:cNvPicPr>
          <p:nvPr/>
        </p:nvPicPr>
        <p:blipFill>
          <a:blip r:embed="rId2"/>
          <a:stretch>
            <a:fillRect/>
          </a:stretch>
        </p:blipFill>
        <p:spPr>
          <a:xfrm>
            <a:off x="457200" y="1188720"/>
            <a:ext cx="8229600" cy="47026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274320"/>
            <a:ext cx="8229600" cy="731520"/>
          </a:xfrm>
          <a:prstGeom prst="rect">
            <a:avLst/>
          </a:prstGeom>
          <a:noFill/>
        </p:spPr>
        <p:txBody>
          <a:bodyPr wrap="none">
            <a:spAutoFit/>
          </a:bodyPr>
          <a:lstStyle/>
          <a:p>
            <a:pPr algn="ctr">
              <a:defRPr sz="3200" b="1">
                <a:solidFill>
                  <a:srgbClr val="2C3E50"/>
                </a:solidFill>
              </a:defRPr>
            </a:pPr>
            <a:r>
              <a:t>China's Four Global Initiatives Flow</a:t>
            </a:r>
          </a:p>
        </p:txBody>
      </p:sp>
      <p:pic>
        <p:nvPicPr>
          <p:cNvPr id="4" name="Picture 3" descr="mcf_four_initiatives_flow.png"/>
          <p:cNvPicPr>
            <a:picLocks noChangeAspect="1"/>
          </p:cNvPicPr>
          <p:nvPr/>
        </p:nvPicPr>
        <p:blipFill>
          <a:blip r:embed="rId2"/>
          <a:stretch>
            <a:fillRect/>
          </a:stretch>
        </p:blipFill>
        <p:spPr>
          <a:xfrm>
            <a:off x="457200" y="1188720"/>
            <a:ext cx="8229600" cy="46291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914400" y="2286000"/>
            <a:ext cx="7315200" cy="1828800"/>
          </a:xfrm>
          <a:prstGeom prst="rect">
            <a:avLst/>
          </a:prstGeom>
          <a:noFill/>
        </p:spPr>
        <p:txBody>
          <a:bodyPr wrap="none">
            <a:spAutoFit/>
          </a:bodyPr>
          <a:lstStyle/>
          <a:p>
            <a:pPr algn="ctr">
              <a:defRPr sz="5400" b="1">
                <a:solidFill>
                  <a:srgbClr val="E74C3C"/>
                </a:solidFill>
              </a:defRPr>
            </a:pPr>
            <a:r>
              <a:t>Strategic Priority Sectors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Made in China 2025: Sectors → Research → Application</a:t>
            </a:r>
          </a:p>
        </p:txBody>
      </p:sp>
      <p:sp>
        <p:nvSpPr>
          <p:cNvPr id="3" name="Content Placeholder 2"/>
          <p:cNvSpPr>
            <a:spLocks noGrp="1"/>
          </p:cNvSpPr>
          <p:nvPr>
            <p:ph idx="1"/>
          </p:nvPr>
        </p:nvSpPr>
        <p:spPr/>
        <p:txBody>
          <a:bodyPr/>
          <a:lstStyle/>
          <a:p>
            <a:r>
              <a:t>Interactive Sankey diagram available in HTML format:</a:t>
            </a:r>
          </a:p>
          <a:p>
            <a:r>
              <a:t>mcf_sector_priority_flow.html</a:t>
            </a:r>
          </a:p>
          <a:p>
            <a:br/>
            <a:pPr/>
            <a:r>
              <a:t>Eight priority sectors:</a:t>
            </a:r>
          </a:p>
          <a:p>
            <a:pPr lvl="1"/>
            <a:r>
              <a:t>Information Technology</a:t>
            </a:r>
          </a:p>
          <a:p>
            <a:pPr lvl="1"/>
            <a:r>
              <a:t>Robotics &amp; Automation</a:t>
            </a:r>
          </a:p>
          <a:p>
            <a:pPr lvl="1"/>
            <a:r>
              <a:t>Aerospace &amp; Aviation</a:t>
            </a:r>
          </a:p>
          <a:p>
            <a:pPr lvl="1"/>
            <a:r>
              <a:t>Maritime Equipment</a:t>
            </a:r>
          </a:p>
          <a:p>
            <a:pPr lvl="1"/>
            <a:r>
              <a:t>New Energy Vehicles</a:t>
            </a:r>
          </a:p>
          <a:p>
            <a:pPr lvl="1"/>
            <a:r>
              <a:t>Power Equipment</a:t>
            </a:r>
          </a:p>
          <a:p>
            <a:pPr lvl="1"/>
            <a:r>
              <a:t>New Materials</a:t>
            </a:r>
          </a:p>
          <a:p>
            <a:pPr lvl="1"/>
            <a:r>
              <a:t>Biopharmaceuticals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Visualization Summary</a:t>
            </a:r>
          </a:p>
        </p:txBody>
      </p:sp>
      <p:sp>
        <p:nvSpPr>
          <p:cNvPr id="3" name="Content Placeholder 2"/>
          <p:cNvSpPr>
            <a:spLocks noGrp="1"/>
          </p:cNvSpPr>
          <p:nvPr>
            <p:ph idx="1"/>
          </p:nvPr>
        </p:nvSpPr>
        <p:spPr/>
        <p:txBody>
          <a:bodyPr/>
          <a:lstStyle/>
          <a:p>
            <a:r>
              <a:t>This presentation includes:</a:t>
            </a:r>
          </a:p>
          <a:p>
            <a:r>
              <a:t>NetworkX network graphs (institutional architecture)</a:t>
            </a:r>
          </a:p>
          <a:p>
            <a:r>
              <a:t>Plotly Sankey diagrams (technology and initiative flows)</a:t>
            </a:r>
          </a:p>
          <a:p>
            <a:r>
              <a:t>Graphviz hierarchy trees (governance structure)</a:t>
            </a:r>
          </a:p>
          <a:p/>
          <a:p>
            <a:r>
              <a:t>All visualizations available in multiple formats:</a:t>
            </a:r>
          </a:p>
          <a:p>
            <a:pPr lvl="1"/>
            <a:r>
              <a:t>  • PNG (for presentations)</a:t>
            </a:r>
          </a:p>
          <a:p>
            <a:pPr lvl="1"/>
            <a:r>
              <a:t>  • SVG (for editing/scaling)</a:t>
            </a:r>
          </a:p>
          <a:p>
            <a:pPr lvl="1"/>
            <a:r>
              <a:t>  • PDF (for printing)</a:t>
            </a:r>
          </a:p>
          <a:p>
            <a:pPr lvl="1"/>
            <a:r>
              <a:t>  • HTML (interactive, Sankey diagrams only)</a:t>
            </a:r>
          </a:p>
          <a:p/>
          <a:p>
            <a:r>
              <a:t>Source data: scripts/visualization/mcf_network_data.py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